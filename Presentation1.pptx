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3" r:id="rId3"/>
    <p:sldId id="258" r:id="rId4"/>
    <p:sldId id="259" r:id="rId5"/>
    <p:sldId id="260" r:id="rId6"/>
    <p:sldId id="271" r:id="rId7"/>
    <p:sldId id="262" r:id="rId8"/>
    <p:sldId id="265" r:id="rId9"/>
    <p:sldId id="266" r:id="rId10"/>
    <p:sldId id="267" r:id="rId11"/>
    <p:sldId id="268" r:id="rId12"/>
    <p:sldId id="269" r:id="rId13"/>
    <p:sldId id="272" r:id="rId14"/>
    <p:sldId id="273" r:id="rId15"/>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74"/>
  </p:normalViewPr>
  <p:slideViewPr>
    <p:cSldViewPr snapToGrid="0">
      <p:cViewPr>
        <p:scale>
          <a:sx n="83" d="100"/>
          <a:sy n="83" d="100"/>
        </p:scale>
        <p:origin x="392" y="6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7E09B4-560A-F44C-B576-2A9EFABC366A}" type="datetimeFigureOut">
              <a:rPr lang="en-NP" smtClean="0"/>
              <a:t>05/12/2025</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2DF31-9FED-324C-B99A-F5FC356F63A5}" type="slidenum">
              <a:rPr lang="en-NP" smtClean="0"/>
              <a:t>‹#›</a:t>
            </a:fld>
            <a:endParaRPr lang="en-NP"/>
          </a:p>
        </p:txBody>
      </p:sp>
    </p:spTree>
    <p:extLst>
      <p:ext uri="{BB962C8B-B14F-4D97-AF65-F5344CB8AC3E}">
        <p14:creationId xmlns:p14="http://schemas.microsoft.com/office/powerpoint/2010/main" val="414304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5722DF31-9FED-324C-B99A-F5FC356F63A5}" type="slidenum">
              <a:rPr lang="en-NP" smtClean="0"/>
              <a:t>5</a:t>
            </a:fld>
            <a:endParaRPr lang="en-NP"/>
          </a:p>
        </p:txBody>
      </p:sp>
    </p:spTree>
    <p:extLst>
      <p:ext uri="{BB962C8B-B14F-4D97-AF65-F5344CB8AC3E}">
        <p14:creationId xmlns:p14="http://schemas.microsoft.com/office/powerpoint/2010/main" val="1826525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5722DF31-9FED-324C-B99A-F5FC356F63A5}" type="slidenum">
              <a:rPr lang="en-NP" smtClean="0"/>
              <a:t>11</a:t>
            </a:fld>
            <a:endParaRPr lang="en-NP"/>
          </a:p>
        </p:txBody>
      </p:sp>
    </p:spTree>
    <p:extLst>
      <p:ext uri="{BB962C8B-B14F-4D97-AF65-F5344CB8AC3E}">
        <p14:creationId xmlns:p14="http://schemas.microsoft.com/office/powerpoint/2010/main" val="2981887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B5E32-EDB4-882F-A994-5B561A1821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2E9F4F40-E791-35A9-EEFE-4CFB4B72A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E8153462-3733-7FFE-1475-2244648F660D}"/>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E392F7A0-13B4-7FF9-BC74-9C3EFB83C53E}"/>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11F0315-2E69-55AE-FE15-73D44DA24764}"/>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3401794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AE13-7CD2-9DD0-1518-71F4AD1CDB90}"/>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8D3D51DA-9523-0628-AAC6-1E42E91ABF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DD0A80B4-DA5E-E53F-9DB0-08EB467CC1C7}"/>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ECB55280-7A82-1959-39A0-90D817D42C38}"/>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2ED31F42-488B-4592-6D24-DBC0FC74A91D}"/>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3202483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7952-5AE4-A512-88CF-6E5F25A600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FD7B8AB0-667C-1C70-B7B5-31864A94E9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F7BE68-6F51-33D5-F108-7E7B60C2326A}"/>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8532CB68-5413-2732-8F47-D9C30CC3B0CE}"/>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8B172892-3A2C-786A-E671-ECC32AC088EC}"/>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358952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56B77-A1CE-F7D0-3615-F37E42CD8946}"/>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D3D9E2D4-B580-B375-DE43-41E369C7D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6D358D18-3B48-CCBE-8A35-AF2CE917A7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D100AC34-5E72-B2F5-7CB1-C5D998F8475C}"/>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6" name="Footer Placeholder 5">
            <a:extLst>
              <a:ext uri="{FF2B5EF4-FFF2-40B4-BE49-F238E27FC236}">
                <a16:creationId xmlns:a16="http://schemas.microsoft.com/office/drawing/2014/main" id="{244E7D30-2FE5-EFBF-A1C7-4A2BF58F774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2DC708FA-5F77-2751-5419-FB3C53065453}"/>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2178203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393A5-FC62-8559-B3DF-CABFEAB19550}"/>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36F15924-6E9F-3FD0-AE48-EA50EB0497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5D3883-0426-B592-BDE9-0C3B23E11C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61DCFEF9-8C9C-3E52-C8EF-D309FD05DE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3EEFB-A7C1-92BF-0AF6-837D84707C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B553EE20-62D5-3282-D6B6-AE4D45495915}"/>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8" name="Footer Placeholder 7">
            <a:extLst>
              <a:ext uri="{FF2B5EF4-FFF2-40B4-BE49-F238E27FC236}">
                <a16:creationId xmlns:a16="http://schemas.microsoft.com/office/drawing/2014/main" id="{5424D29D-2E40-05EC-1C41-1006F5E44275}"/>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03877AA1-3C0D-E46F-63AC-BC7B592DDD15}"/>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1164492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8129-DB21-3121-70FF-30D581ACCEC2}"/>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8F892361-B8E0-B89A-865C-55BB9EA812B2}"/>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4" name="Footer Placeholder 3">
            <a:extLst>
              <a:ext uri="{FF2B5EF4-FFF2-40B4-BE49-F238E27FC236}">
                <a16:creationId xmlns:a16="http://schemas.microsoft.com/office/drawing/2014/main" id="{9C8B508F-F689-B01C-9F00-C27BBAFAD4B6}"/>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EA099730-67DE-921C-A076-EA92BAAB12D7}"/>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2269467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1891B6-80DE-875B-CAF4-E41E7801A1E5}"/>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3" name="Footer Placeholder 2">
            <a:extLst>
              <a:ext uri="{FF2B5EF4-FFF2-40B4-BE49-F238E27FC236}">
                <a16:creationId xmlns:a16="http://schemas.microsoft.com/office/drawing/2014/main" id="{11C978EE-7034-7EAF-6734-556341C384BF}"/>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04B6F772-446D-3E98-3FBE-EE960A4F6B97}"/>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753024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A5EB-ADB6-8AE4-7B27-3042DC5418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F70416C2-D1EB-0166-27C6-A00C7744E3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55D4B5BB-57D1-664A-99E0-0C981E5951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1D2AEE-DCF1-3996-B6DC-4FFB65D6D50C}"/>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6" name="Footer Placeholder 5">
            <a:extLst>
              <a:ext uri="{FF2B5EF4-FFF2-40B4-BE49-F238E27FC236}">
                <a16:creationId xmlns:a16="http://schemas.microsoft.com/office/drawing/2014/main" id="{9D093118-E84E-8302-C6AE-16B656083696}"/>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2111E931-275F-FDC6-F4B3-CAB4118FDFEF}"/>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702342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C9EF3-2B1E-35D8-3E4A-A737BE6451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3ED28285-5049-51A4-A380-CEDA5E6B55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B70C2D97-3B18-F943-B88F-59B60994D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47E498-03DC-7BC1-6974-443613FB3F8A}"/>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6" name="Footer Placeholder 5">
            <a:extLst>
              <a:ext uri="{FF2B5EF4-FFF2-40B4-BE49-F238E27FC236}">
                <a16:creationId xmlns:a16="http://schemas.microsoft.com/office/drawing/2014/main" id="{3D6959C0-9720-E1B1-6298-54EA8C2BA131}"/>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E5FDFC9D-DBCA-A300-96CA-D73AD72FDDC3}"/>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238048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3C7C-85AF-5096-FEAA-AF319200BB66}"/>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A1BAE09A-FA0D-23F5-4B6A-6BA83F1144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9F9E07DA-393B-5EA9-E3FB-B2E192A5F0E5}"/>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F4AD8901-FC5C-BF14-081F-C2A8C83601C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BBA48B84-115D-1009-6CBF-66908A51D33F}"/>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9392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F9EEB0-31DA-42B0-4693-5868EC6550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A909DF85-6010-7C6C-82E0-E26CC94019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DE87640-3698-4631-A0D8-783A65DA84A4}"/>
              </a:ext>
            </a:extLst>
          </p:cNvPr>
          <p:cNvSpPr>
            <a:spLocks noGrp="1"/>
          </p:cNvSpPr>
          <p:nvPr>
            <p:ph type="dt" sz="half" idx="10"/>
          </p:nvPr>
        </p:nvSpPr>
        <p:spPr/>
        <p:txBody>
          <a:body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ECFBBC74-1EB4-0089-3C45-5D05EEA8682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FA943EA2-FD46-A29F-47E7-A79AF3853092}"/>
              </a:ext>
            </a:extLst>
          </p:cNvPr>
          <p:cNvSpPr>
            <a:spLocks noGrp="1"/>
          </p:cNvSpPr>
          <p:nvPr>
            <p:ph type="sldNum" sz="quarter" idx="12"/>
          </p:nvPr>
        </p:nvSpPr>
        <p:spPr/>
        <p:txBody>
          <a:bodyPr/>
          <a:lstStyle/>
          <a:p>
            <a:fld id="{81875DCB-788F-0F45-80B7-49C76138A177}" type="slidenum">
              <a:rPr lang="en-NP" smtClean="0"/>
              <a:t>‹#›</a:t>
            </a:fld>
            <a:endParaRPr lang="en-NP"/>
          </a:p>
        </p:txBody>
      </p:sp>
    </p:spTree>
    <p:extLst>
      <p:ext uri="{BB962C8B-B14F-4D97-AF65-F5344CB8AC3E}">
        <p14:creationId xmlns:p14="http://schemas.microsoft.com/office/powerpoint/2010/main" val="3843612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B76F79-29CD-F144-A6F4-92A54590A5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8DF6BA15-9196-6359-A6F7-EC8B6C909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93E1B863-59AB-D77F-4412-7CC7F7B266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C976BB-AAA4-6E4A-ABC2-9EFDDC6FD3CD}" type="datetimeFigureOut">
              <a:rPr lang="en-NP" smtClean="0"/>
              <a:t>05/12/2025</a:t>
            </a:fld>
            <a:endParaRPr lang="en-NP"/>
          </a:p>
        </p:txBody>
      </p:sp>
      <p:sp>
        <p:nvSpPr>
          <p:cNvPr id="5" name="Footer Placeholder 4">
            <a:extLst>
              <a:ext uri="{FF2B5EF4-FFF2-40B4-BE49-F238E27FC236}">
                <a16:creationId xmlns:a16="http://schemas.microsoft.com/office/drawing/2014/main" id="{16B66433-0467-B0C5-EE7A-01B75D6708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D84A61D7-5A97-DF77-5169-73744ED8A4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875DCB-788F-0F45-80B7-49C76138A177}" type="slidenum">
              <a:rPr lang="en-NP" smtClean="0"/>
              <a:t>‹#›</a:t>
            </a:fld>
            <a:endParaRPr lang="en-NP"/>
          </a:p>
        </p:txBody>
      </p:sp>
    </p:spTree>
    <p:extLst>
      <p:ext uri="{BB962C8B-B14F-4D97-AF65-F5344CB8AC3E}">
        <p14:creationId xmlns:p14="http://schemas.microsoft.com/office/powerpoint/2010/main" val="56996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erson standing on the side of a road&#10;&#10;AI-generated content may be incorrect.">
            <a:extLst>
              <a:ext uri="{FF2B5EF4-FFF2-40B4-BE49-F238E27FC236}">
                <a16:creationId xmlns:a16="http://schemas.microsoft.com/office/drawing/2014/main" id="{D4A5AFE2-6801-4C09-9300-7383C518808F}"/>
              </a:ext>
            </a:extLst>
          </p:cNvPr>
          <p:cNvPicPr>
            <a:picLocks noChangeAspect="1"/>
          </p:cNvPicPr>
          <p:nvPr/>
        </p:nvPicPr>
        <p:blipFill>
          <a:blip r:embed="rId2"/>
          <a:srcRect l="24160" t="9091"/>
          <a:stretch>
            <a:fillRect/>
          </a:stretch>
        </p:blipFill>
        <p:spPr>
          <a:xfrm>
            <a:off x="20" y="10"/>
            <a:ext cx="8668492" cy="6857990"/>
          </a:xfrm>
          <a:prstGeom prst="rect">
            <a:avLst/>
          </a:prstGeom>
        </p:spPr>
      </p:pic>
      <p:sp>
        <p:nvSpPr>
          <p:cNvPr id="35" name="Rectangle 34">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58722545-60EF-38C3-35E1-FA10E3427068}"/>
              </a:ext>
            </a:extLst>
          </p:cNvPr>
          <p:cNvSpPr>
            <a:spLocks noGrp="1"/>
          </p:cNvSpPr>
          <p:nvPr>
            <p:ph type="ctrTitle"/>
          </p:nvPr>
        </p:nvSpPr>
        <p:spPr>
          <a:xfrm>
            <a:off x="7848600" y="1122363"/>
            <a:ext cx="4023360" cy="3204134"/>
          </a:xfrm>
        </p:spPr>
        <p:txBody>
          <a:bodyPr anchor="b">
            <a:normAutofit fontScale="90000"/>
          </a:bodyPr>
          <a:lstStyle/>
          <a:p>
            <a:r>
              <a:rPr lang="en-US" sz="4800" b="1" dirty="0"/>
              <a:t>The Global Impact of Air Pollution on Human Health (2010–2019)</a:t>
            </a:r>
          </a:p>
        </p:txBody>
      </p:sp>
      <p:sp>
        <p:nvSpPr>
          <p:cNvPr id="37" name="Rectangle 3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9" name="Rectangle 3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843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ight Triangle 47">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0B4A34-0D63-9BC4-2A39-DD8321125DF2}"/>
              </a:ext>
            </a:extLst>
          </p:cNvPr>
          <p:cNvSpPr>
            <a:spLocks noGrp="1"/>
          </p:cNvSpPr>
          <p:nvPr>
            <p:ph idx="1"/>
          </p:nvPr>
        </p:nvSpPr>
        <p:spPr>
          <a:xfrm>
            <a:off x="1285240" y="2969469"/>
            <a:ext cx="8074815" cy="2800395"/>
          </a:xfrm>
        </p:spPr>
        <p:txBody>
          <a:bodyPr anchor="t">
            <a:normAutofit/>
          </a:bodyPr>
          <a:lstStyle/>
          <a:p>
            <a:pPr marL="0" indent="0">
              <a:buNone/>
            </a:pPr>
            <a:endParaRPr lang="en-US" sz="1700" dirty="0">
              <a:latin typeface="Calibri" panose="020F0502020204030204" pitchFamily="34" charset="0"/>
              <a:cs typeface="Calibri" panose="020F0502020204030204" pitchFamily="34" charset="0"/>
            </a:endParaRPr>
          </a:p>
          <a:p>
            <a:r>
              <a:rPr lang="en-US" sz="1700" dirty="0">
                <a:latin typeface="Calibri" panose="020F0502020204030204" pitchFamily="34" charset="0"/>
                <a:cs typeface="Calibri" panose="020F0502020204030204" pitchFamily="34" charset="0"/>
              </a:rPr>
              <a:t>“Air pollution kills 7 million people every year — WHO.”</a:t>
            </a:r>
          </a:p>
          <a:p>
            <a:r>
              <a:rPr lang="en-US" sz="1700" dirty="0">
                <a:latin typeface="Calibri" panose="020F0502020204030204" pitchFamily="34" charset="0"/>
                <a:cs typeface="Calibri" panose="020F0502020204030204" pitchFamily="34" charset="0"/>
              </a:rPr>
              <a:t>Air pollution stands as one of the gravest global health threats of our time. Fine particulate matter (PM2.5) penetrates deep into the lungs and enters the bloodstream, leading to millions of preventable deaths each year. The World Health Organization (WHO) attributes approximately 7 million annual deaths to this silent killer.</a:t>
            </a:r>
          </a:p>
          <a:p>
            <a:r>
              <a:rPr lang="en-US" sz="1700" dirty="0">
                <a:latin typeface="Calibri" panose="020F0502020204030204" pitchFamily="34" charset="0"/>
                <a:cs typeface="Calibri" panose="020F0502020204030204" pitchFamily="34" charset="0"/>
              </a:rPr>
              <a:t>This presentation delves into how air-pollution-related deaths varied by region, country, and gender between 2010 and 2019, highlighting the urgent need for action.</a:t>
            </a:r>
          </a:p>
          <a:p>
            <a:endParaRPr lang="en-NP" sz="1700" dirty="0"/>
          </a:p>
        </p:txBody>
      </p:sp>
    </p:spTree>
    <p:extLst>
      <p:ext uri="{BB962C8B-B14F-4D97-AF65-F5344CB8AC3E}">
        <p14:creationId xmlns:p14="http://schemas.microsoft.com/office/powerpoint/2010/main" val="3085418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5A3588-2A8B-B76F-2854-370A466E4DE0}"/>
              </a:ext>
            </a:extLst>
          </p:cNvPr>
          <p:cNvSpPr>
            <a:spLocks noGrp="1"/>
          </p:cNvSpPr>
          <p:nvPr>
            <p:ph type="title"/>
          </p:nvPr>
        </p:nvSpPr>
        <p:spPr>
          <a:xfrm>
            <a:off x="1285240" y="1050595"/>
            <a:ext cx="8074815" cy="1618489"/>
          </a:xfrm>
        </p:spPr>
        <p:txBody>
          <a:bodyPr anchor="ctr">
            <a:normAutofit/>
          </a:bodyPr>
          <a:lstStyle/>
          <a:p>
            <a:r>
              <a:rPr lang="en-US" sz="7200"/>
              <a:t>Data and Source</a:t>
            </a:r>
            <a:endParaRPr lang="en-NP" sz="7200"/>
          </a:p>
        </p:txBody>
      </p:sp>
      <p:sp>
        <p:nvSpPr>
          <p:cNvPr id="3" name="Content Placeholder 2">
            <a:extLst>
              <a:ext uri="{FF2B5EF4-FFF2-40B4-BE49-F238E27FC236}">
                <a16:creationId xmlns:a16="http://schemas.microsoft.com/office/drawing/2014/main" id="{CE21C67C-173E-262E-BA94-562C58E1849B}"/>
              </a:ext>
            </a:extLst>
          </p:cNvPr>
          <p:cNvSpPr>
            <a:spLocks noGrp="1"/>
          </p:cNvSpPr>
          <p:nvPr>
            <p:ph idx="1"/>
          </p:nvPr>
        </p:nvSpPr>
        <p:spPr>
          <a:xfrm>
            <a:off x="1285240" y="2969469"/>
            <a:ext cx="8074815" cy="2800395"/>
          </a:xfrm>
        </p:spPr>
        <p:txBody>
          <a:bodyPr anchor="t">
            <a:normAutofit/>
          </a:bodyPr>
          <a:lstStyle/>
          <a:p>
            <a:pPr marL="0" indent="0">
              <a:buNone/>
            </a:pPr>
            <a:r>
              <a:rPr lang="en-US" sz="1500" dirty="0">
                <a:latin typeface="Calibri" panose="020F0502020204030204" pitchFamily="34" charset="0"/>
                <a:cs typeface="Calibri" panose="020F0502020204030204" pitchFamily="34" charset="0"/>
              </a:rPr>
              <a:t>Source: WHO Global Health Observatory (Air Pollution Mortality &amp;  PM2.5 dataset).</a:t>
            </a:r>
          </a:p>
          <a:p>
            <a:pPr marL="0" indent="0">
              <a:buNone/>
            </a:pPr>
            <a:r>
              <a:rPr lang="en-US" sz="1500" dirty="0">
                <a:latin typeface="Calibri" panose="020F0502020204030204" pitchFamily="34" charset="0"/>
                <a:cs typeface="Calibri" panose="020F0502020204030204" pitchFamily="34" charset="0"/>
              </a:rPr>
              <a:t>Collected by: </a:t>
            </a:r>
            <a:r>
              <a:rPr lang="en-US" sz="1500" i="1" dirty="0">
                <a:latin typeface="Calibri" panose="020F0502020204030204" pitchFamily="34" charset="0"/>
                <a:cs typeface="Calibri" panose="020F0502020204030204" pitchFamily="34" charset="0"/>
              </a:rPr>
              <a:t>World Health Organization (WHO)</a:t>
            </a:r>
            <a:r>
              <a:rPr lang="en-US" sz="1500" dirty="0">
                <a:latin typeface="Calibri" panose="020F0502020204030204" pitchFamily="34" charset="0"/>
                <a:cs typeface="Calibri" panose="020F0502020204030204" pitchFamily="34" charset="0"/>
              </a:rPr>
              <a:t> for public research.</a:t>
            </a:r>
          </a:p>
          <a:p>
            <a:pPr marL="0" indent="0">
              <a:buNone/>
            </a:pPr>
            <a:r>
              <a:rPr lang="en-US" sz="1500" dirty="0">
                <a:latin typeface="Calibri" panose="020F0502020204030204" pitchFamily="34" charset="0"/>
                <a:cs typeface="Calibri" panose="020F0502020204030204" pitchFamily="34" charset="0"/>
              </a:rPr>
              <a:t>Timeframe: 2000–2020, analyzed 2010–2019 for consistency.</a:t>
            </a:r>
          </a:p>
          <a:p>
            <a:pPr marL="0" indent="0">
              <a:buNone/>
            </a:pPr>
            <a:r>
              <a:rPr lang="en-US" sz="1500" dirty="0">
                <a:latin typeface="Calibri" panose="020F0502020204030204" pitchFamily="34" charset="0"/>
                <a:cs typeface="Calibri" panose="020F0502020204030204" pitchFamily="34" charset="0"/>
              </a:rPr>
              <a:t>Method: Country-level mortality estimates from PM2.5 exposure.</a:t>
            </a:r>
          </a:p>
          <a:p>
            <a:pPr marL="0" indent="0">
              <a:buNone/>
            </a:pPr>
            <a:r>
              <a:rPr lang="en-US" sz="1500" dirty="0">
                <a:latin typeface="Calibri" panose="020F0502020204030204" pitchFamily="34" charset="0"/>
                <a:cs typeface="Calibri" panose="020F0502020204030204" pitchFamily="34" charset="0"/>
              </a:rPr>
              <a:t>Dataset size: ~12,000 rows × 9 columns (categorical + continuous).</a:t>
            </a:r>
          </a:p>
          <a:p>
            <a:pPr marL="0" indent="0">
              <a:buNone/>
            </a:pPr>
            <a:r>
              <a:rPr lang="en-US" sz="1500" dirty="0">
                <a:latin typeface="Calibri" panose="020F0502020204030204" pitchFamily="34" charset="0"/>
                <a:cs typeface="Calibri" panose="020F0502020204030204" pitchFamily="34" charset="0"/>
              </a:rPr>
              <a:t>License: Open-access under WHO data use policy.</a:t>
            </a:r>
          </a:p>
          <a:p>
            <a:pPr marL="0" indent="0">
              <a:buNone/>
            </a:pPr>
            <a:endParaRPr lang="en-US" sz="1500" i="1" dirty="0"/>
          </a:p>
          <a:p>
            <a:pPr marL="0" indent="0">
              <a:buNone/>
            </a:pPr>
            <a:r>
              <a:rPr lang="en-US" sz="1500" dirty="0">
                <a:latin typeface="Calibri" panose="020F0502020204030204" pitchFamily="34" charset="0"/>
                <a:cs typeface="Calibri" panose="020F0502020204030204" pitchFamily="34" charset="0"/>
              </a:rPr>
              <a:t>Variables include - Region, Country, Gender, Year, PM2.5 level, and Deaths.</a:t>
            </a:r>
          </a:p>
          <a:p>
            <a:endParaRPr lang="en-NP" sz="1500" dirty="0"/>
          </a:p>
        </p:txBody>
      </p:sp>
    </p:spTree>
    <p:extLst>
      <p:ext uri="{BB962C8B-B14F-4D97-AF65-F5344CB8AC3E}">
        <p14:creationId xmlns:p14="http://schemas.microsoft.com/office/powerpoint/2010/main" val="27682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Triangle 2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84CCA8-C82A-49C6-A3FA-6D36D04BAED2}"/>
              </a:ext>
            </a:extLst>
          </p:cNvPr>
          <p:cNvSpPr>
            <a:spLocks noGrp="1"/>
          </p:cNvSpPr>
          <p:nvPr>
            <p:ph type="title"/>
          </p:nvPr>
        </p:nvSpPr>
        <p:spPr>
          <a:xfrm>
            <a:off x="1123356" y="1188637"/>
            <a:ext cx="9984615" cy="1597228"/>
          </a:xfrm>
        </p:spPr>
        <p:txBody>
          <a:bodyPr>
            <a:normAutofit/>
          </a:bodyPr>
          <a:lstStyle/>
          <a:p>
            <a:r>
              <a:rPr lang="en-US" sz="6000"/>
              <a:t>Research Framework</a:t>
            </a:r>
            <a:endParaRPr lang="en-NP" sz="6000"/>
          </a:p>
        </p:txBody>
      </p:sp>
      <p:pic>
        <p:nvPicPr>
          <p:cNvPr id="14" name="Picture 13" descr="World map with flight paths">
            <a:extLst>
              <a:ext uri="{FF2B5EF4-FFF2-40B4-BE49-F238E27FC236}">
                <a16:creationId xmlns:a16="http://schemas.microsoft.com/office/drawing/2014/main" id="{E7BCEF68-E24C-A624-8F41-257BAE9C8CC4}"/>
              </a:ext>
            </a:extLst>
          </p:cNvPr>
          <p:cNvPicPr>
            <a:picLocks noChangeAspect="1"/>
          </p:cNvPicPr>
          <p:nvPr/>
        </p:nvPicPr>
        <p:blipFill>
          <a:blip r:embed="rId2"/>
          <a:srcRect l="2390" r="9198" b="-4"/>
          <a:stretch>
            <a:fillRect/>
          </a:stretch>
        </p:blipFill>
        <p:spPr>
          <a:xfrm>
            <a:off x="1123357" y="3018327"/>
            <a:ext cx="3533985" cy="2728198"/>
          </a:xfrm>
          <a:prstGeom prst="rect">
            <a:avLst/>
          </a:prstGeom>
        </p:spPr>
      </p:pic>
      <p:sp>
        <p:nvSpPr>
          <p:cNvPr id="3" name="Content Placeholder 2">
            <a:extLst>
              <a:ext uri="{FF2B5EF4-FFF2-40B4-BE49-F238E27FC236}">
                <a16:creationId xmlns:a16="http://schemas.microsoft.com/office/drawing/2014/main" id="{2E6B9225-9240-C451-F0EF-BBB992E0D77D}"/>
              </a:ext>
            </a:extLst>
          </p:cNvPr>
          <p:cNvSpPr>
            <a:spLocks noGrp="1"/>
          </p:cNvSpPr>
          <p:nvPr>
            <p:ph idx="1"/>
          </p:nvPr>
        </p:nvSpPr>
        <p:spPr>
          <a:xfrm>
            <a:off x="5255260" y="2998278"/>
            <a:ext cx="4428236" cy="2728198"/>
          </a:xfrm>
        </p:spPr>
        <p:txBody>
          <a:bodyPr anchor="t">
            <a:normAutofit/>
          </a:bodyPr>
          <a:lstStyle/>
          <a:p>
            <a:pPr marL="0" indent="0">
              <a:buNone/>
            </a:pPr>
            <a:r>
              <a:rPr lang="en-US" sz="1100" b="1" dirty="0"/>
              <a:t>Main Question:</a:t>
            </a:r>
            <a:br>
              <a:rPr lang="en-US" sz="1100" dirty="0"/>
            </a:br>
            <a:r>
              <a:rPr lang="en-US" sz="1100" dirty="0"/>
              <a:t>How has air pollution affected global mortality patterns (2010–2019)?</a:t>
            </a:r>
          </a:p>
          <a:p>
            <a:pPr marL="0" indent="0">
              <a:buNone/>
            </a:pPr>
            <a:r>
              <a:rPr lang="en-US" sz="1100" b="1" dirty="0"/>
              <a:t>Sub-Questions:</a:t>
            </a:r>
            <a:endParaRPr lang="en-US" sz="1100" dirty="0"/>
          </a:p>
          <a:p>
            <a:r>
              <a:rPr lang="en-US" sz="1100" dirty="0"/>
              <a:t>How have deaths changed globally and regionally over time?</a:t>
            </a:r>
          </a:p>
          <a:p>
            <a:r>
              <a:rPr lang="en-US" sz="1100" dirty="0"/>
              <a:t>Which countries are most and least affected, and how does air quality differ?</a:t>
            </a:r>
          </a:p>
          <a:p>
            <a:r>
              <a:rPr lang="en-US" sz="1100" dirty="0"/>
              <a:t>How do gender patterns vary across regions?</a:t>
            </a:r>
          </a:p>
          <a:p>
            <a:pPr marL="0" indent="0">
              <a:buNone/>
            </a:pPr>
            <a:r>
              <a:rPr lang="en-US" sz="1100" b="1" dirty="0"/>
              <a:t>Goal:</a:t>
            </a:r>
            <a:br>
              <a:rPr lang="en-US" sz="1100" dirty="0"/>
            </a:br>
            <a:r>
              <a:rPr lang="en-US" sz="1100" dirty="0"/>
              <a:t>Understand global, regional, and demographic inequalities in air-pollution-related deaths.</a:t>
            </a:r>
          </a:p>
          <a:p>
            <a:endParaRPr lang="en-NP" sz="1100" dirty="0"/>
          </a:p>
        </p:txBody>
      </p:sp>
    </p:spTree>
    <p:extLst>
      <p:ext uri="{BB962C8B-B14F-4D97-AF65-F5344CB8AC3E}">
        <p14:creationId xmlns:p14="http://schemas.microsoft.com/office/powerpoint/2010/main" val="1120689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95009D-6D00-3E7C-5BC7-2CF3CF108ACB}"/>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Global Trends Over Time</a:t>
            </a:r>
          </a:p>
        </p:txBody>
      </p:sp>
      <p:pic>
        <p:nvPicPr>
          <p:cNvPr id="5" name="Content Placeholder 4">
            <a:extLst>
              <a:ext uri="{FF2B5EF4-FFF2-40B4-BE49-F238E27FC236}">
                <a16:creationId xmlns:a16="http://schemas.microsoft.com/office/drawing/2014/main" id="{E82E4D55-A418-42AA-A873-85A4818E0010}"/>
              </a:ext>
            </a:extLst>
          </p:cNvPr>
          <p:cNvPicPr>
            <a:picLocks noGrp="1" noChangeAspect="1"/>
          </p:cNvPicPr>
          <p:nvPr>
            <p:ph idx="1"/>
          </p:nvPr>
        </p:nvPicPr>
        <p:blipFill>
          <a:blip r:embed="rId3"/>
          <a:stretch>
            <a:fillRect/>
          </a:stretch>
        </p:blipFill>
        <p:spPr>
          <a:xfrm>
            <a:off x="1102591" y="1675227"/>
            <a:ext cx="9986817" cy="4394199"/>
          </a:xfrm>
          <a:prstGeom prst="rect">
            <a:avLst/>
          </a:prstGeom>
        </p:spPr>
      </p:pic>
    </p:spTree>
    <p:extLst>
      <p:ext uri="{BB962C8B-B14F-4D97-AF65-F5344CB8AC3E}">
        <p14:creationId xmlns:p14="http://schemas.microsoft.com/office/powerpoint/2010/main" val="1141736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ight Triangle 6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1">
            <a:extLst>
              <a:ext uri="{FF2B5EF4-FFF2-40B4-BE49-F238E27FC236}">
                <a16:creationId xmlns:a16="http://schemas.microsoft.com/office/drawing/2014/main" id="{219BC657-0F25-C989-CDB3-9DAAD94196CC}"/>
              </a:ext>
            </a:extLst>
          </p:cNvPr>
          <p:cNvSpPr>
            <a:spLocks noGrp="1" noChangeArrowheads="1"/>
          </p:cNvSpPr>
          <p:nvPr>
            <p:ph idx="1"/>
          </p:nvPr>
        </p:nvSpPr>
        <p:spPr bwMode="auto">
          <a:xfrm>
            <a:off x="1285240" y="2969469"/>
            <a:ext cx="8074815" cy="280039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NP" altLang="en-NP" sz="2000" u="none" strike="noStrike" cap="none" normalizeH="0" baseline="0">
                <a:ln>
                  <a:noFill/>
                </a:ln>
                <a:effectLst/>
                <a:latin typeface="Calibri" panose="020F0502020204030204" pitchFamily="34" charset="0"/>
                <a:cs typeface="Calibri" panose="020F0502020204030204" pitchFamily="34" charset="0"/>
              </a:rPr>
              <a:t>Western Pacific and South-East Asia had the highest deaths throughout the decade.</a:t>
            </a:r>
          </a:p>
          <a:p>
            <a:pPr eaLnBrk="0" fontAlgn="base" hangingPunct="0">
              <a:spcBef>
                <a:spcPct val="0"/>
              </a:spcBef>
              <a:spcAft>
                <a:spcPts val="600"/>
              </a:spcAft>
            </a:pPr>
            <a:r>
              <a:rPr kumimoji="0" lang="en-NP" altLang="en-NP" sz="2000" u="none" strike="noStrike" cap="none" normalizeH="0" baseline="0">
                <a:ln>
                  <a:noFill/>
                </a:ln>
                <a:effectLst/>
                <a:latin typeface="Calibri" panose="020F0502020204030204" pitchFamily="34" charset="0"/>
                <a:cs typeface="Calibri" panose="020F0502020204030204" pitchFamily="34" charset="0"/>
              </a:rPr>
              <a:t>Both regions show a slight decline after 2013, hinting at policy or health improvements.</a:t>
            </a:r>
          </a:p>
          <a:p>
            <a:pPr eaLnBrk="0" fontAlgn="base" hangingPunct="0">
              <a:spcBef>
                <a:spcPct val="0"/>
              </a:spcBef>
              <a:spcAft>
                <a:spcPts val="600"/>
              </a:spcAft>
            </a:pPr>
            <a:r>
              <a:rPr kumimoji="0" lang="en-NP" altLang="en-NP" sz="2000" u="none" strike="noStrike" cap="none" normalizeH="0" baseline="0">
                <a:ln>
                  <a:noFill/>
                </a:ln>
                <a:effectLst/>
                <a:latin typeface="Calibri" panose="020F0502020204030204" pitchFamily="34" charset="0"/>
                <a:cs typeface="Calibri" panose="020F0502020204030204" pitchFamily="34" charset="0"/>
              </a:rPr>
              <a:t>Africa and Europe remained stable but still high.</a:t>
            </a:r>
          </a:p>
          <a:p>
            <a:pPr eaLnBrk="0" fontAlgn="base" hangingPunct="0">
              <a:spcBef>
                <a:spcPct val="0"/>
              </a:spcBef>
              <a:spcAft>
                <a:spcPts val="600"/>
              </a:spcAft>
            </a:pPr>
            <a:r>
              <a:rPr kumimoji="0" lang="en-NP" altLang="en-NP" sz="2000" u="none" strike="noStrike" cap="none" normalizeH="0" baseline="0">
                <a:ln>
                  <a:noFill/>
                </a:ln>
                <a:effectLst/>
                <a:latin typeface="Calibri" panose="020F0502020204030204" pitchFamily="34" charset="0"/>
                <a:cs typeface="Calibri" panose="020F0502020204030204" pitchFamily="34" charset="0"/>
              </a:rPr>
              <a:t>Americas had the lowest death rates globally.</a:t>
            </a:r>
          </a:p>
          <a:p>
            <a:pPr eaLnBrk="0" fontAlgn="base" hangingPunct="0">
              <a:spcBef>
                <a:spcPct val="0"/>
              </a:spcBef>
              <a:spcAft>
                <a:spcPts val="600"/>
              </a:spcAft>
            </a:pPr>
            <a:r>
              <a:rPr kumimoji="0" lang="en-NP" altLang="en-NP" sz="2000" u="none" strike="noStrike" cap="none" normalizeH="0" baseline="0">
                <a:ln>
                  <a:noFill/>
                </a:ln>
                <a:effectLst/>
                <a:latin typeface="Calibri" panose="020F0502020204030204" pitchFamily="34" charset="0"/>
                <a:cs typeface="Calibri" panose="020F0502020204030204" pitchFamily="34" charset="0"/>
              </a:rPr>
              <a:t>Overall, progress is uneven, with densely populated regions still most at risk.</a:t>
            </a:r>
          </a:p>
        </p:txBody>
      </p:sp>
    </p:spTree>
    <p:extLst>
      <p:ext uri="{BB962C8B-B14F-4D97-AF65-F5344CB8AC3E}">
        <p14:creationId xmlns:p14="http://schemas.microsoft.com/office/powerpoint/2010/main" val="1398799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the top 10 countries/regions by air pollution deaths&#10;&#10;AI-generated content may be incorrect.">
            <a:extLst>
              <a:ext uri="{FF2B5EF4-FFF2-40B4-BE49-F238E27FC236}">
                <a16:creationId xmlns:a16="http://schemas.microsoft.com/office/drawing/2014/main" id="{8E79FAB6-50C7-6504-B274-FA97C7319C33}"/>
              </a:ext>
            </a:extLst>
          </p:cNvPr>
          <p:cNvPicPr>
            <a:picLocks noGrp="1" noChangeAspect="1"/>
          </p:cNvPicPr>
          <p:nvPr>
            <p:ph idx="1"/>
          </p:nvPr>
        </p:nvPicPr>
        <p:blipFill>
          <a:blip r:embed="rId2"/>
          <a:stretch>
            <a:fillRect/>
          </a:stretch>
        </p:blipFill>
        <p:spPr>
          <a:xfrm>
            <a:off x="643467" y="770889"/>
            <a:ext cx="10905066" cy="5316220"/>
          </a:xfrm>
          <a:prstGeom prst="rect">
            <a:avLst/>
          </a:prstGeom>
        </p:spPr>
      </p:pic>
      <p:sp>
        <p:nvSpPr>
          <p:cNvPr id="6" name="TextBox 5">
            <a:extLst>
              <a:ext uri="{FF2B5EF4-FFF2-40B4-BE49-F238E27FC236}">
                <a16:creationId xmlns:a16="http://schemas.microsoft.com/office/drawing/2014/main" id="{090EA4E2-22B5-3FFB-3C78-37BE95F145ED}"/>
              </a:ext>
            </a:extLst>
          </p:cNvPr>
          <p:cNvSpPr txBox="1"/>
          <p:nvPr/>
        </p:nvSpPr>
        <p:spPr>
          <a:xfrm>
            <a:off x="-1" y="0"/>
            <a:ext cx="11548533" cy="1077218"/>
          </a:xfrm>
          <a:prstGeom prst="rect">
            <a:avLst/>
          </a:prstGeom>
          <a:noFill/>
        </p:spPr>
        <p:txBody>
          <a:bodyPr wrap="square" rtlCol="0">
            <a:spAutoFit/>
          </a:bodyPr>
          <a:lstStyle/>
          <a:p>
            <a:r>
              <a:rPr lang="en-US" sz="3200" b="1" dirty="0">
                <a:latin typeface="Calibri" panose="020F0502020204030204" pitchFamily="34" charset="0"/>
                <a:cs typeface="Calibri" panose="020F0502020204030204" pitchFamily="34" charset="0"/>
              </a:rPr>
              <a:t>Country-Level Analysis</a:t>
            </a:r>
          </a:p>
          <a:p>
            <a:endParaRPr lang="en-NP" sz="3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01856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green bars&#10;&#10;AI-generated content may be incorrect.">
            <a:extLst>
              <a:ext uri="{FF2B5EF4-FFF2-40B4-BE49-F238E27FC236}">
                <a16:creationId xmlns:a16="http://schemas.microsoft.com/office/drawing/2014/main" id="{07257163-4CD9-6B9C-1A4B-E95017F1A23A}"/>
              </a:ext>
            </a:extLst>
          </p:cNvPr>
          <p:cNvPicPr>
            <a:picLocks noGrp="1" noChangeAspect="1"/>
          </p:cNvPicPr>
          <p:nvPr>
            <p:ph idx="1"/>
          </p:nvPr>
        </p:nvPicPr>
        <p:blipFill>
          <a:blip r:embed="rId2"/>
          <a:stretch>
            <a:fillRect/>
          </a:stretch>
        </p:blipFill>
        <p:spPr>
          <a:xfrm>
            <a:off x="643467" y="770889"/>
            <a:ext cx="10905066" cy="5316220"/>
          </a:xfrm>
          <a:prstGeom prst="rect">
            <a:avLst/>
          </a:prstGeom>
        </p:spPr>
      </p:pic>
    </p:spTree>
    <p:extLst>
      <p:ext uri="{BB962C8B-B14F-4D97-AF65-F5344CB8AC3E}">
        <p14:creationId xmlns:p14="http://schemas.microsoft.com/office/powerpoint/2010/main" val="1927983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9F1D8024-90F6-D464-E933-AFE0CFF6981A}"/>
              </a:ext>
            </a:extLst>
          </p:cNvPr>
          <p:cNvSpPr>
            <a:spLocks noGrp="1"/>
          </p:cNvSpPr>
          <p:nvPr>
            <p:ph idx="1"/>
          </p:nvPr>
        </p:nvSpPr>
        <p:spPr>
          <a:xfrm>
            <a:off x="1285240" y="2969469"/>
            <a:ext cx="8074815" cy="2800395"/>
          </a:xfrm>
        </p:spPr>
        <p:txBody>
          <a:bodyPr anchor="t">
            <a:normAutofit/>
          </a:bodyPr>
          <a:lstStyle/>
          <a:p>
            <a:pPr marL="0" indent="0">
              <a:buNone/>
            </a:pPr>
            <a:r>
              <a:rPr lang="en-US" sz="1500" dirty="0">
                <a:latin typeface="Calibri" panose="020F0502020204030204" pitchFamily="34" charset="0"/>
                <a:cs typeface="Calibri" panose="020F0502020204030204" pitchFamily="34" charset="0"/>
              </a:rPr>
              <a:t>Dominance of Asian Giants</a:t>
            </a:r>
          </a:p>
          <a:p>
            <a:r>
              <a:rPr lang="en-US" sz="1500" dirty="0">
                <a:latin typeface="Calibri" panose="020F0502020204030204" pitchFamily="34" charset="0"/>
                <a:cs typeface="Calibri" panose="020F0502020204030204" pitchFamily="34" charset="0"/>
              </a:rPr>
              <a:t>China (74.8 million) and India (61.8 million) alone account for over half of all global deaths due to air pollution, underscoring the immense challenge faced by these populous nations.</a:t>
            </a:r>
          </a:p>
          <a:p>
            <a:pPr marL="0" indent="0">
              <a:buNone/>
            </a:pPr>
            <a:r>
              <a:rPr lang="en-US" sz="1500" dirty="0">
                <a:latin typeface="Calibri" panose="020F0502020204030204" pitchFamily="34" charset="0"/>
                <a:cs typeface="Calibri" panose="020F0502020204030204" pitchFamily="34" charset="0"/>
              </a:rPr>
              <a:t>Industrialization &amp; Population Density</a:t>
            </a:r>
          </a:p>
          <a:p>
            <a:r>
              <a:rPr lang="en-US" sz="1500" dirty="0">
                <a:latin typeface="Calibri" panose="020F0502020204030204" pitchFamily="34" charset="0"/>
                <a:cs typeface="Calibri" panose="020F0502020204030204" pitchFamily="34" charset="0"/>
              </a:rPr>
              <a:t>The most affected countries are predominantly Asian nations, characterized by high population densities and extensive industrial activity.</a:t>
            </a:r>
          </a:p>
          <a:p>
            <a:pPr marL="0" indent="0">
              <a:buNone/>
            </a:pPr>
            <a:r>
              <a:rPr lang="en-US" sz="1500" dirty="0">
                <a:latin typeface="Calibri" panose="020F0502020204030204" pitchFamily="34" charset="0"/>
                <a:cs typeface="Calibri" panose="020F0502020204030204" pitchFamily="34" charset="0"/>
              </a:rPr>
              <a:t>Minimal Impact Nations</a:t>
            </a:r>
          </a:p>
          <a:p>
            <a:r>
              <a:rPr lang="en-US" sz="1500" dirty="0">
                <a:latin typeface="Calibri" panose="020F0502020204030204" pitchFamily="34" charset="0"/>
                <a:cs typeface="Calibri" panose="020F0502020204030204" pitchFamily="34" charset="0"/>
              </a:rPr>
              <a:t>Conversely, small island states and northern European nations such as the Maldives, Iceland, and Grenada recorded negligible deaths, reflecting cleaner environments and often lower population densities.</a:t>
            </a:r>
          </a:p>
          <a:p>
            <a:endParaRPr lang="en-NP" sz="1500" dirty="0"/>
          </a:p>
        </p:txBody>
      </p:sp>
    </p:spTree>
    <p:extLst>
      <p:ext uri="{BB962C8B-B14F-4D97-AF65-F5344CB8AC3E}">
        <p14:creationId xmlns:p14="http://schemas.microsoft.com/office/powerpoint/2010/main" val="2135263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the number of deaths&#10;&#10;AI-generated content may be incorrect.">
            <a:extLst>
              <a:ext uri="{FF2B5EF4-FFF2-40B4-BE49-F238E27FC236}">
                <a16:creationId xmlns:a16="http://schemas.microsoft.com/office/drawing/2014/main" id="{6C2D38A2-E783-038B-09BA-F1017053FC42}"/>
              </a:ext>
            </a:extLst>
          </p:cNvPr>
          <p:cNvPicPr>
            <a:picLocks noGrp="1" noChangeAspect="1"/>
          </p:cNvPicPr>
          <p:nvPr>
            <p:ph idx="1"/>
          </p:nvPr>
        </p:nvPicPr>
        <p:blipFill>
          <a:blip r:embed="rId2"/>
          <a:stretch>
            <a:fillRect/>
          </a:stretch>
        </p:blipFill>
        <p:spPr>
          <a:xfrm>
            <a:off x="1859448" y="643466"/>
            <a:ext cx="8473103" cy="5571067"/>
          </a:xfrm>
          <a:prstGeom prst="rect">
            <a:avLst/>
          </a:prstGeom>
        </p:spPr>
      </p:pic>
    </p:spTree>
    <p:extLst>
      <p:ext uri="{BB962C8B-B14F-4D97-AF65-F5344CB8AC3E}">
        <p14:creationId xmlns:p14="http://schemas.microsoft.com/office/powerpoint/2010/main" val="3148644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Triangle 37">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120CF1-3DCA-AA80-01A0-4C29D0C92E87}"/>
              </a:ext>
            </a:extLst>
          </p:cNvPr>
          <p:cNvSpPr>
            <a:spLocks noGrp="1"/>
          </p:cNvSpPr>
          <p:nvPr>
            <p:ph idx="1"/>
          </p:nvPr>
        </p:nvSpPr>
        <p:spPr>
          <a:xfrm>
            <a:off x="1285240" y="2969469"/>
            <a:ext cx="8074815" cy="2800395"/>
          </a:xfrm>
        </p:spPr>
        <p:txBody>
          <a:bodyPr anchor="t">
            <a:normAutofit/>
          </a:bodyPr>
          <a:lstStyle/>
          <a:p>
            <a:pPr marL="0" indent="0">
              <a:buNone/>
            </a:pPr>
            <a:r>
              <a:rPr lang="en-US" sz="2400" b="1" dirty="0"/>
              <a:t>Gender Mortality Gap</a:t>
            </a:r>
          </a:p>
          <a:p>
            <a:pPr marL="0" indent="0">
              <a:buNone/>
            </a:pPr>
            <a:r>
              <a:rPr lang="en-US" sz="2400" dirty="0"/>
              <a:t>A consistent, albeit slight, trend indicates men experience higher mortality rates than women across most regions, suggesting differential exposure or physiological responses.</a:t>
            </a:r>
          </a:p>
        </p:txBody>
      </p:sp>
    </p:spTree>
    <p:extLst>
      <p:ext uri="{BB962C8B-B14F-4D97-AF65-F5344CB8AC3E}">
        <p14:creationId xmlns:p14="http://schemas.microsoft.com/office/powerpoint/2010/main" val="899422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25139-69AD-0E41-7B0E-C72ED7A8CDA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2200" b="1" kern="1200">
                <a:solidFill>
                  <a:schemeClr val="bg1"/>
                </a:solidFill>
                <a:latin typeface="+mj-lt"/>
                <a:ea typeface="+mj-ea"/>
                <a:cs typeface="+mj-cs"/>
              </a:rPr>
              <a:t>Regional Air Quality</a:t>
            </a:r>
            <a:br>
              <a:rPr lang="en-US" sz="2200" b="1" kern="1200">
                <a:solidFill>
                  <a:schemeClr val="bg1"/>
                </a:solidFill>
                <a:latin typeface="+mj-lt"/>
                <a:ea typeface="+mj-ea"/>
                <a:cs typeface="+mj-cs"/>
              </a:rPr>
            </a:br>
            <a:endParaRPr lang="en-US" sz="2200" kern="1200">
              <a:solidFill>
                <a:schemeClr val="bg1"/>
              </a:solidFill>
              <a:latin typeface="+mj-lt"/>
              <a:ea typeface="+mj-ea"/>
              <a:cs typeface="+mj-cs"/>
            </a:endParaRPr>
          </a:p>
        </p:txBody>
      </p:sp>
      <p:pic>
        <p:nvPicPr>
          <p:cNvPr id="5" name="Content Placeholder 4" descr="A map of the world&#10;&#10;AI-generated content may be incorrect.">
            <a:extLst>
              <a:ext uri="{FF2B5EF4-FFF2-40B4-BE49-F238E27FC236}">
                <a16:creationId xmlns:a16="http://schemas.microsoft.com/office/drawing/2014/main" id="{54D8BD54-1A26-6765-7EBF-07A250868914}"/>
              </a:ext>
            </a:extLst>
          </p:cNvPr>
          <p:cNvPicPr>
            <a:picLocks noGrp="1" noChangeAspect="1"/>
          </p:cNvPicPr>
          <p:nvPr>
            <p:ph idx="1"/>
          </p:nvPr>
        </p:nvPicPr>
        <p:blipFill>
          <a:blip r:embed="rId2"/>
          <a:srcRect l="5143" r="1078" b="-1"/>
          <a:stretch>
            <a:fillRect/>
          </a:stretch>
        </p:blipFill>
        <p:spPr>
          <a:xfrm>
            <a:off x="2190031" y="1675227"/>
            <a:ext cx="7811937" cy="4394199"/>
          </a:xfrm>
          <a:prstGeom prst="rect">
            <a:avLst/>
          </a:prstGeom>
        </p:spPr>
      </p:pic>
    </p:spTree>
    <p:extLst>
      <p:ext uri="{BB962C8B-B14F-4D97-AF65-F5344CB8AC3E}">
        <p14:creationId xmlns:p14="http://schemas.microsoft.com/office/powerpoint/2010/main" val="1418383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0C2B8D-62A0-6D80-3CE6-D5BB976D5B29}"/>
              </a:ext>
            </a:extLst>
          </p:cNvPr>
          <p:cNvSpPr>
            <a:spLocks noGrp="1"/>
          </p:cNvSpPr>
          <p:nvPr>
            <p:ph idx="1"/>
          </p:nvPr>
        </p:nvSpPr>
        <p:spPr>
          <a:xfrm>
            <a:off x="1197034" y="2776451"/>
            <a:ext cx="8163022" cy="2993413"/>
          </a:xfrm>
        </p:spPr>
        <p:txBody>
          <a:bodyPr anchor="t">
            <a:normAutofit/>
          </a:bodyPr>
          <a:lstStyle/>
          <a:p>
            <a:pPr marL="0" indent="0">
              <a:buNone/>
            </a:pPr>
            <a:r>
              <a:rPr lang="en-US" sz="1500" dirty="0">
                <a:latin typeface="Calibri" panose="020F0502020204030204" pitchFamily="34" charset="0"/>
                <a:cs typeface="Calibri" panose="020F0502020204030204" pitchFamily="34" charset="0"/>
              </a:rPr>
              <a:t>Key Points:</a:t>
            </a:r>
          </a:p>
          <a:p>
            <a:r>
              <a:rPr lang="en-US" sz="1500" dirty="0">
                <a:latin typeface="Calibri" panose="020F0502020204030204" pitchFamily="34" charset="0"/>
                <a:cs typeface="Calibri" panose="020F0502020204030204" pitchFamily="34" charset="0"/>
              </a:rPr>
              <a:t>PM2.5 levels vary sharply across regions — Asia and the Middle East face the highest pollution.</a:t>
            </a:r>
          </a:p>
          <a:p>
            <a:r>
              <a:rPr lang="en-US" sz="1500" dirty="0">
                <a:latin typeface="Calibri" panose="020F0502020204030204" pitchFamily="34" charset="0"/>
                <a:cs typeface="Calibri" panose="020F0502020204030204" pitchFamily="34" charset="0"/>
              </a:rPr>
              <a:t>Countries like India, China, and parts of Africa record “Unhealthy” to “Hazardous” levels.</a:t>
            </a:r>
          </a:p>
          <a:p>
            <a:r>
              <a:rPr lang="en-US" sz="1500" dirty="0">
                <a:latin typeface="Calibri" panose="020F0502020204030204" pitchFamily="34" charset="0"/>
                <a:cs typeface="Calibri" panose="020F0502020204030204" pitchFamily="34" charset="0"/>
              </a:rPr>
              <a:t>North America, Europe, and Oceania show much cleaner air (&lt;20 µg/m³).</a:t>
            </a:r>
          </a:p>
          <a:p>
            <a:r>
              <a:rPr lang="en-US" sz="1500" dirty="0">
                <a:latin typeface="Calibri" panose="020F0502020204030204" pitchFamily="34" charset="0"/>
                <a:cs typeface="Calibri" panose="020F0502020204030204" pitchFamily="34" charset="0"/>
              </a:rPr>
              <a:t>The map highlights a clear geographical divide between developed and developing regions.</a:t>
            </a:r>
          </a:p>
          <a:p>
            <a:pPr marL="0" indent="0">
              <a:buNone/>
            </a:pPr>
            <a:r>
              <a:rPr lang="en-US" sz="1500" dirty="0">
                <a:latin typeface="Calibri" panose="020F0502020204030204" pitchFamily="34" charset="0"/>
                <a:cs typeface="Calibri" panose="020F0502020204030204" pitchFamily="34" charset="0"/>
              </a:rPr>
              <a:t>Interpretation:</a:t>
            </a:r>
          </a:p>
          <a:p>
            <a:r>
              <a:rPr lang="en-US" sz="1500" dirty="0">
                <a:latin typeface="Calibri" panose="020F0502020204030204" pitchFamily="34" charset="0"/>
                <a:cs typeface="Calibri" panose="020F0502020204030204" pitchFamily="34" charset="0"/>
              </a:rPr>
              <a:t>Higher PM2.5 concentration means greater health risk — linking directly to increased air-pollution-related deaths seen in other charts.</a:t>
            </a:r>
          </a:p>
          <a:p>
            <a:endParaRPr lang="en-NP" sz="1500" dirty="0"/>
          </a:p>
        </p:txBody>
      </p:sp>
    </p:spTree>
    <p:extLst>
      <p:ext uri="{BB962C8B-B14F-4D97-AF65-F5344CB8AC3E}">
        <p14:creationId xmlns:p14="http://schemas.microsoft.com/office/powerpoint/2010/main" val="4086020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B9C990-87ED-0566-502B-29DBA7A6D1B9}"/>
              </a:ext>
            </a:extLst>
          </p:cNvPr>
          <p:cNvSpPr>
            <a:spLocks noGrp="1"/>
          </p:cNvSpPr>
          <p:nvPr>
            <p:ph type="title"/>
          </p:nvPr>
        </p:nvSpPr>
        <p:spPr>
          <a:xfrm>
            <a:off x="1285240" y="1050595"/>
            <a:ext cx="8074815" cy="1618489"/>
          </a:xfrm>
        </p:spPr>
        <p:txBody>
          <a:bodyPr anchor="ctr">
            <a:normAutofit/>
          </a:bodyPr>
          <a:lstStyle/>
          <a:p>
            <a:r>
              <a:rPr lang="en-US" sz="5000" b="1"/>
              <a:t>Conclusion</a:t>
            </a:r>
            <a:br>
              <a:rPr lang="en-US" sz="5000" b="1"/>
            </a:br>
            <a:endParaRPr lang="en-NP" sz="5000"/>
          </a:p>
        </p:txBody>
      </p:sp>
      <p:sp>
        <p:nvSpPr>
          <p:cNvPr id="3" name="Content Placeholder 2">
            <a:extLst>
              <a:ext uri="{FF2B5EF4-FFF2-40B4-BE49-F238E27FC236}">
                <a16:creationId xmlns:a16="http://schemas.microsoft.com/office/drawing/2014/main" id="{EAF2C34B-31DD-8CF3-52B6-A0660F8E54D3}"/>
              </a:ext>
            </a:extLst>
          </p:cNvPr>
          <p:cNvSpPr>
            <a:spLocks noGrp="1"/>
          </p:cNvSpPr>
          <p:nvPr>
            <p:ph idx="1"/>
          </p:nvPr>
        </p:nvSpPr>
        <p:spPr>
          <a:xfrm>
            <a:off x="1126436" y="2213113"/>
            <a:ext cx="8233620" cy="3556751"/>
          </a:xfrm>
        </p:spPr>
        <p:txBody>
          <a:bodyPr anchor="t">
            <a:normAutofit/>
          </a:bodyPr>
          <a:lstStyle/>
          <a:p>
            <a:r>
              <a:rPr lang="en-US" sz="1300" dirty="0">
                <a:latin typeface="Calibri" panose="020F0502020204030204" pitchFamily="34" charset="0"/>
                <a:cs typeface="Calibri" panose="020F0502020204030204" pitchFamily="34" charset="0"/>
              </a:rPr>
              <a:t>Air pollution remains a major global health threat, responsible for millions of deaths yearly.</a:t>
            </a:r>
          </a:p>
          <a:p>
            <a:r>
              <a:rPr lang="en-US" sz="1300" dirty="0">
                <a:latin typeface="Calibri" panose="020F0502020204030204" pitchFamily="34" charset="0"/>
                <a:cs typeface="Calibri" panose="020F0502020204030204" pitchFamily="34" charset="0"/>
              </a:rPr>
              <a:t>Western Pacific and South-East Asia bear the heaviest burden, while the Americas remain least affected.</a:t>
            </a:r>
          </a:p>
          <a:p>
            <a:r>
              <a:rPr lang="en-US" sz="1300" dirty="0">
                <a:latin typeface="Calibri" panose="020F0502020204030204" pitchFamily="34" charset="0"/>
                <a:cs typeface="Calibri" panose="020F0502020204030204" pitchFamily="34" charset="0"/>
              </a:rPr>
              <a:t>High PM2.5 levels strongly correlate with elevated mortality rates.</a:t>
            </a:r>
          </a:p>
          <a:p>
            <a:r>
              <a:rPr lang="en-US" sz="1300" dirty="0">
                <a:latin typeface="Calibri" panose="020F0502020204030204" pitchFamily="34" charset="0"/>
                <a:cs typeface="Calibri" panose="020F0502020204030204" pitchFamily="34" charset="0"/>
              </a:rPr>
              <a:t>Gender differences are minor, but regional gaps are vast.</a:t>
            </a:r>
          </a:p>
          <a:p>
            <a:r>
              <a:rPr lang="en-US" sz="1300" dirty="0">
                <a:latin typeface="Calibri" panose="020F0502020204030204" pitchFamily="34" charset="0"/>
                <a:cs typeface="Calibri" panose="020F0502020204030204" pitchFamily="34" charset="0"/>
              </a:rPr>
              <a:t>Despite small declines, global progress is uneven and insufficient.</a:t>
            </a:r>
          </a:p>
          <a:p>
            <a:endParaRPr lang="en-NP" sz="1300" dirty="0"/>
          </a:p>
        </p:txBody>
      </p:sp>
    </p:spTree>
    <p:extLst>
      <p:ext uri="{BB962C8B-B14F-4D97-AF65-F5344CB8AC3E}">
        <p14:creationId xmlns:p14="http://schemas.microsoft.com/office/powerpoint/2010/main" val="2641684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620</Words>
  <Application>Microsoft Macintosh PowerPoint</Application>
  <PresentationFormat>Widescreen</PresentationFormat>
  <Paragraphs>52</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The Global Impact of Air Pollution on Human Health (2010–2019)</vt:lpstr>
      <vt:lpstr>PowerPoint Presentation</vt:lpstr>
      <vt:lpstr>Data and Source</vt:lpstr>
      <vt:lpstr>Research Framework</vt:lpstr>
      <vt:lpstr>Global Trends Over Time</vt:lpstr>
      <vt:lpstr>PowerPoint Presentation</vt:lpstr>
      <vt:lpstr>PowerPoint Presentation</vt:lpstr>
      <vt:lpstr>PowerPoint Presentation</vt:lpstr>
      <vt:lpstr>PowerPoint Presentation</vt:lpstr>
      <vt:lpstr>PowerPoint Presentation</vt:lpstr>
      <vt:lpstr>PowerPoint Presentation</vt:lpstr>
      <vt:lpstr>Regional Air Quality </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bahadur thapa</dc:creator>
  <cp:lastModifiedBy>ganesh bahadur thapa</cp:lastModifiedBy>
  <cp:revision>4</cp:revision>
  <dcterms:created xsi:type="dcterms:W3CDTF">2025-12-05T00:31:50Z</dcterms:created>
  <dcterms:modified xsi:type="dcterms:W3CDTF">2025-12-05T02:00:42Z</dcterms:modified>
</cp:coreProperties>
</file>